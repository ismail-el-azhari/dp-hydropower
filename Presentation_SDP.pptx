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5"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344"/>
    <p:restoredTop sz="94704"/>
  </p:normalViewPr>
  <p:slideViewPr>
    <p:cSldViewPr snapToGrid="0">
      <p:cViewPr varScale="1">
        <p:scale>
          <a:sx n="62" d="100"/>
          <a:sy n="62" d="100"/>
        </p:scale>
        <p:origin x="216" y="1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0FC1C4-A39D-4940-A372-C2D0EF972E81}" type="datetimeFigureOut">
              <a:rPr lang="en-US" smtClean="0"/>
              <a:t>4/8/25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F1841D-9CD7-4D4B-A986-40F034FA9DFE}" type="slidenum">
              <a:rPr lang="en-US" smtClean="0"/>
              <a:t>‹#›</a:t>
            </a:fld>
            <a:endParaRPr lang="en-US"/>
          </a:p>
        </p:txBody>
      </p:sp>
    </p:spTree>
    <p:extLst>
      <p:ext uri="{BB962C8B-B14F-4D97-AF65-F5344CB8AC3E}">
        <p14:creationId xmlns:p14="http://schemas.microsoft.com/office/powerpoint/2010/main" val="982264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is the dead water level+ </a:t>
            </a:r>
            <a:r>
              <a:rPr lang="en-CA" dirty="0"/>
              <a:t>The incoming runoff in flood season (July to September) was large and unstable, so the curves of the July, August, and September operation diagrams were scattered and irregular</a:t>
            </a:r>
            <a:endParaRPr lang="en-US" dirty="0"/>
          </a:p>
        </p:txBody>
      </p:sp>
      <p:sp>
        <p:nvSpPr>
          <p:cNvPr id="4" name="Slide Number Placeholder 3"/>
          <p:cNvSpPr>
            <a:spLocks noGrp="1"/>
          </p:cNvSpPr>
          <p:nvPr>
            <p:ph type="sldNum" sz="quarter" idx="5"/>
          </p:nvPr>
        </p:nvSpPr>
        <p:spPr/>
        <p:txBody>
          <a:bodyPr/>
          <a:lstStyle/>
          <a:p>
            <a:fld id="{3AF1841D-9CD7-4D4B-A986-40F034FA9DFE}" type="slidenum">
              <a:rPr lang="en-US" smtClean="0"/>
              <a:t>5</a:t>
            </a:fld>
            <a:endParaRPr lang="en-US"/>
          </a:p>
        </p:txBody>
      </p:sp>
    </p:spTree>
    <p:extLst>
      <p:ext uri="{BB962C8B-B14F-4D97-AF65-F5344CB8AC3E}">
        <p14:creationId xmlns:p14="http://schemas.microsoft.com/office/powerpoint/2010/main" val="1315839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44479B-705B-4489-957E-7E8A228BDFA0}" type="datetime1">
              <a:rPr lang="en-US" smtClean="0"/>
              <a:t>4/8/25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2359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89F774-3FA6-43B8-9241-99959C8FD463}" type="datetime1">
              <a:rPr lang="en-US" smtClean="0"/>
              <a:t>4/8/25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66078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504452-5DCC-4FE2-A5C9-8A5EF6714D65}" type="datetime1">
              <a:rPr lang="en-US" smtClean="0"/>
              <a:t>4/8/25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89618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79ABC2-0180-4F3A-A895-A85BC724D472}" type="datetime1">
              <a:rPr lang="en-US" smtClean="0"/>
              <a:t>4/8/25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31719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EEA9BA-4E8F-439E-BEA4-91FBA01E3F5F}" type="datetime1">
              <a:rPr lang="en-US" smtClean="0"/>
              <a:t>4/8/25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12304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15BF18-0007-481C-AA29-413124BC3EE7}" type="datetime1">
              <a:rPr lang="en-US" smtClean="0"/>
              <a:t>4/8/25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64147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BE9870-3748-43AD-B547-02A075CB4A1D}" type="datetime1">
              <a:rPr lang="en-US" smtClean="0"/>
              <a:t>4/8/25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90045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E7897-33C5-4F1A-9307-D068E37F3DC7}" type="datetime1">
              <a:rPr lang="en-US" smtClean="0"/>
              <a:t>4/8/25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55097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A38F49-B3E2-4BF0-BEC7-C30D34ABBB8D}" type="datetime1">
              <a:rPr lang="en-US" smtClean="0"/>
              <a:t>4/8/25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0966306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4/8/25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4311766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4/8/25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4295270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4/8/25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6325684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4/8/25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4268851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4/8/25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0383083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7B66AD-7C08-490A-ADA4-B47E10FB2407}" type="datetime1">
              <a:rPr lang="en-US" smtClean="0"/>
              <a:t>4/8/25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09204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95027-4255-49E7-9841-CD21BCC99996}" type="datetime1">
              <a:rPr lang="en-US" smtClean="0"/>
              <a:t>4/8/25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01267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A38F49-B3E2-4BF0-BEC7-C30D34ABBB8D}" type="datetime1">
              <a:rPr lang="en-US" smtClean="0"/>
              <a:t>4/8/25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2047430573"/>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 id="2147483807" r:id="rId12"/>
    <p:sldLayoutId id="2147483808" r:id="rId13"/>
    <p:sldLayoutId id="2147483809" r:id="rId14"/>
    <p:sldLayoutId id="2147483810" r:id="rId15"/>
    <p:sldLayoutId id="2147483811"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descr="A water dam surrounded by hills&#10;&#10;Description automatically generated">
            <a:extLst>
              <a:ext uri="{FF2B5EF4-FFF2-40B4-BE49-F238E27FC236}">
                <a16:creationId xmlns:a16="http://schemas.microsoft.com/office/drawing/2014/main" id="{7EC372C8-01B1-8ECF-F2C8-B6E299293D9A}"/>
              </a:ext>
            </a:extLst>
          </p:cNvPr>
          <p:cNvPicPr>
            <a:picLocks noChangeAspect="1"/>
          </p:cNvPicPr>
          <p:nvPr/>
        </p:nvPicPr>
        <p:blipFill>
          <a:blip r:embed="rId2"/>
          <a:srcRect l="12741" r="10556" b="-1"/>
          <a:stretch/>
        </p:blipFill>
        <p:spPr>
          <a:xfrm>
            <a:off x="19" y="2062003"/>
            <a:ext cx="9278891" cy="3649249"/>
          </a:xfrm>
          <a:prstGeom prst="rect">
            <a:avLst/>
          </a:prstGeom>
        </p:spPr>
      </p:pic>
      <p:sp>
        <p:nvSpPr>
          <p:cNvPr id="13" name="TextBox 12">
            <a:extLst>
              <a:ext uri="{FF2B5EF4-FFF2-40B4-BE49-F238E27FC236}">
                <a16:creationId xmlns:a16="http://schemas.microsoft.com/office/drawing/2014/main" id="{B343BFFD-C913-A8AD-20E5-ED20D80DB77D}"/>
              </a:ext>
            </a:extLst>
          </p:cNvPr>
          <p:cNvSpPr txBox="1"/>
          <p:nvPr/>
        </p:nvSpPr>
        <p:spPr>
          <a:xfrm>
            <a:off x="2013904" y="5822961"/>
            <a:ext cx="4201791" cy="461665"/>
          </a:xfrm>
          <a:prstGeom prst="rect">
            <a:avLst/>
          </a:prstGeom>
          <a:noFill/>
        </p:spPr>
        <p:txBody>
          <a:bodyPr wrap="none" rtlCol="0">
            <a:spAutoFit/>
          </a:bodyPr>
          <a:lstStyle/>
          <a:p>
            <a:r>
              <a:rPr lang="en-US" sz="2400" dirty="0">
                <a:solidFill>
                  <a:srgbClr val="00B0F0"/>
                </a:solidFill>
                <a:latin typeface="Apple Chancery" panose="03020702040506060504" pitchFamily="66" charset="-79"/>
                <a:cs typeface="Apple Chancery" panose="03020702040506060504" pitchFamily="66" charset="-79"/>
              </a:rPr>
              <a:t>Lancang River, Yunan, China</a:t>
            </a:r>
          </a:p>
        </p:txBody>
      </p:sp>
      <p:pic>
        <p:nvPicPr>
          <p:cNvPr id="17" name="Picture 16" descr="A blue and white logo&#10;&#10;Description automatically generated">
            <a:extLst>
              <a:ext uri="{FF2B5EF4-FFF2-40B4-BE49-F238E27FC236}">
                <a16:creationId xmlns:a16="http://schemas.microsoft.com/office/drawing/2014/main" id="{64D0273B-B451-79AB-3756-C44D7246DF11}"/>
              </a:ext>
            </a:extLst>
          </p:cNvPr>
          <p:cNvPicPr>
            <a:picLocks noChangeAspect="1"/>
          </p:cNvPicPr>
          <p:nvPr/>
        </p:nvPicPr>
        <p:blipFill>
          <a:blip r:embed="rId3"/>
          <a:stretch>
            <a:fillRect/>
          </a:stretch>
        </p:blipFill>
        <p:spPr>
          <a:xfrm>
            <a:off x="233589" y="96257"/>
            <a:ext cx="1651000" cy="660400"/>
          </a:xfrm>
          <a:prstGeom prst="rect">
            <a:avLst/>
          </a:prstGeom>
        </p:spPr>
      </p:pic>
      <p:sp>
        <p:nvSpPr>
          <p:cNvPr id="20" name="TextBox 19">
            <a:extLst>
              <a:ext uri="{FF2B5EF4-FFF2-40B4-BE49-F238E27FC236}">
                <a16:creationId xmlns:a16="http://schemas.microsoft.com/office/drawing/2014/main" id="{4814000B-D09B-1709-EE68-15ECA431A200}"/>
              </a:ext>
            </a:extLst>
          </p:cNvPr>
          <p:cNvSpPr txBox="1"/>
          <p:nvPr/>
        </p:nvSpPr>
        <p:spPr>
          <a:xfrm>
            <a:off x="1978701" y="486000"/>
            <a:ext cx="7555043" cy="923330"/>
          </a:xfrm>
          <a:prstGeom prst="rect">
            <a:avLst/>
          </a:prstGeom>
          <a:noFill/>
        </p:spPr>
        <p:txBody>
          <a:bodyPr wrap="square">
            <a:spAutoFit/>
          </a:bodyPr>
          <a:lstStyle/>
          <a:p>
            <a:pPr lvl="0" algn="ctr">
              <a:lnSpc>
                <a:spcPct val="100000"/>
              </a:lnSpc>
            </a:pPr>
            <a:r>
              <a:rPr lang="en-CA" sz="1800" b="1" dirty="0">
                <a:solidFill>
                  <a:srgbClr val="002060"/>
                </a:solidFill>
                <a:latin typeface="Arial" panose="020B0604020202020204" pitchFamily="34" charset="0"/>
                <a:cs typeface="Arial" panose="020B0604020202020204" pitchFamily="34" charset="0"/>
              </a:rPr>
              <a:t>Study on the Optimal Operation of a Hydropower Plant Group Based on the Stochastic Dynamic Programming with Consideration for Runoff Uncertainty</a:t>
            </a:r>
            <a:endParaRPr lang="en-US" sz="1800" b="1" dirty="0">
              <a:solidFill>
                <a:srgbClr val="002060"/>
              </a:solidFill>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DF5C68D8-70EB-4ADF-9A61-26A8DE8B284A}"/>
              </a:ext>
            </a:extLst>
          </p:cNvPr>
          <p:cNvSpPr txBox="1"/>
          <p:nvPr/>
        </p:nvSpPr>
        <p:spPr>
          <a:xfrm>
            <a:off x="9563724" y="2267969"/>
            <a:ext cx="2218544" cy="2031325"/>
          </a:xfrm>
          <a:prstGeom prst="rect">
            <a:avLst/>
          </a:prstGeom>
          <a:noFill/>
        </p:spPr>
        <p:txBody>
          <a:bodyPr wrap="square">
            <a:spAutoFit/>
          </a:bodyPr>
          <a:lstStyle/>
          <a:p>
            <a:pPr lvl="0">
              <a:lnSpc>
                <a:spcPct val="100000"/>
              </a:lnSpc>
            </a:pPr>
            <a:r>
              <a:rPr lang="en-CA" b="1" dirty="0"/>
              <a:t>Hongxue Zhang, Lianpeng Zhang, Jianxia Chang, Yunyun Li, </a:t>
            </a:r>
          </a:p>
          <a:p>
            <a:pPr lvl="0">
              <a:lnSpc>
                <a:spcPct val="100000"/>
              </a:lnSpc>
            </a:pPr>
            <a:r>
              <a:rPr lang="en-CA" b="1" dirty="0"/>
              <a:t>Ruihao Long </a:t>
            </a:r>
          </a:p>
          <a:p>
            <a:pPr lvl="0">
              <a:lnSpc>
                <a:spcPct val="100000"/>
              </a:lnSpc>
            </a:pPr>
            <a:r>
              <a:rPr lang="en-CA" b="1" dirty="0"/>
              <a:t>and </a:t>
            </a:r>
          </a:p>
          <a:p>
            <a:pPr lvl="0">
              <a:lnSpc>
                <a:spcPct val="100000"/>
              </a:lnSpc>
            </a:pPr>
            <a:r>
              <a:rPr lang="en-CA" b="1" dirty="0"/>
              <a:t>Zhenxiang Xing </a:t>
            </a:r>
            <a:endParaRPr lang="en-US" b="1" dirty="0"/>
          </a:p>
        </p:txBody>
      </p:sp>
      <p:pic>
        <p:nvPicPr>
          <p:cNvPr id="33" name="Graphic 32" descr="Pencil with solid fill">
            <a:extLst>
              <a:ext uri="{FF2B5EF4-FFF2-40B4-BE49-F238E27FC236}">
                <a16:creationId xmlns:a16="http://schemas.microsoft.com/office/drawing/2014/main" id="{3F7D9027-DD4D-62D2-AB1E-3DD8D29CF1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987791" y="1844688"/>
            <a:ext cx="378502" cy="378502"/>
          </a:xfrm>
          <a:prstGeom prst="rect">
            <a:avLst/>
          </a:prstGeom>
        </p:spPr>
      </p:pic>
      <p:sp>
        <p:nvSpPr>
          <p:cNvPr id="34" name="TextBox 33">
            <a:extLst>
              <a:ext uri="{FF2B5EF4-FFF2-40B4-BE49-F238E27FC236}">
                <a16:creationId xmlns:a16="http://schemas.microsoft.com/office/drawing/2014/main" id="{5AC7AC27-3ECD-D90A-D1F9-489A7B3B6D6C}"/>
              </a:ext>
            </a:extLst>
          </p:cNvPr>
          <p:cNvSpPr txBox="1"/>
          <p:nvPr/>
        </p:nvSpPr>
        <p:spPr>
          <a:xfrm>
            <a:off x="9563724" y="1872752"/>
            <a:ext cx="1139253" cy="37850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Authors:</a:t>
            </a:r>
          </a:p>
        </p:txBody>
      </p:sp>
      <p:pic>
        <p:nvPicPr>
          <p:cNvPr id="2" name="Picture 1">
            <a:extLst>
              <a:ext uri="{FF2B5EF4-FFF2-40B4-BE49-F238E27FC236}">
                <a16:creationId xmlns:a16="http://schemas.microsoft.com/office/drawing/2014/main" id="{7497A585-502F-8C94-DC86-B2C26AD80DC2}"/>
              </a:ext>
            </a:extLst>
          </p:cNvPr>
          <p:cNvPicPr>
            <a:picLocks noChangeAspect="1"/>
          </p:cNvPicPr>
          <p:nvPr/>
        </p:nvPicPr>
        <p:blipFill>
          <a:blip r:embed="rId6"/>
          <a:stretch>
            <a:fillRect/>
          </a:stretch>
        </p:blipFill>
        <p:spPr>
          <a:xfrm>
            <a:off x="9423885" y="5310332"/>
            <a:ext cx="2768115" cy="1547668"/>
          </a:xfrm>
          <a:prstGeom prst="rect">
            <a:avLst/>
          </a:prstGeom>
        </p:spPr>
      </p:pic>
      <p:sp>
        <p:nvSpPr>
          <p:cNvPr id="3" name="Rounded Rectangular Callout 2">
            <a:extLst>
              <a:ext uri="{FF2B5EF4-FFF2-40B4-BE49-F238E27FC236}">
                <a16:creationId xmlns:a16="http://schemas.microsoft.com/office/drawing/2014/main" id="{412A989C-72F4-6FA7-6B4D-A386B604647E}"/>
              </a:ext>
            </a:extLst>
          </p:cNvPr>
          <p:cNvSpPr/>
          <p:nvPr/>
        </p:nvSpPr>
        <p:spPr>
          <a:xfrm>
            <a:off x="8160327" y="4807527"/>
            <a:ext cx="2017769" cy="1246266"/>
          </a:xfrm>
          <a:prstGeom prst="wedgeRoundRectCallout">
            <a:avLst>
              <a:gd name="adj1" fmla="val 54009"/>
              <a:gd name="adj2" fmla="val 5916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You are saying I can manage dams with SDP?!</a:t>
            </a:r>
          </a:p>
        </p:txBody>
      </p:sp>
    </p:spTree>
    <p:extLst>
      <p:ext uri="{BB962C8B-B14F-4D97-AF65-F5344CB8AC3E}">
        <p14:creationId xmlns:p14="http://schemas.microsoft.com/office/powerpoint/2010/main" val="89320071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90BBC5-2275-6ED2-A9C5-852ADD7ECCCD}"/>
              </a:ext>
            </a:extLst>
          </p:cNvPr>
          <p:cNvSpPr txBox="1"/>
          <p:nvPr/>
        </p:nvSpPr>
        <p:spPr>
          <a:xfrm>
            <a:off x="179883" y="194871"/>
            <a:ext cx="9923488" cy="461665"/>
          </a:xfrm>
          <a:prstGeom prst="rect">
            <a:avLst/>
          </a:prstGeom>
          <a:noFill/>
        </p:spPr>
        <p:txBody>
          <a:bodyPr wrap="square" rtlCol="0">
            <a:spAutoFit/>
          </a:bodyPr>
          <a:lstStyle/>
          <a:p>
            <a:r>
              <a:rPr lang="en-US" sz="2400" b="1" dirty="0">
                <a:solidFill>
                  <a:srgbClr val="00B0F0"/>
                </a:solidFill>
                <a:latin typeface="Arial" panose="020B0604020202020204" pitchFamily="34" charset="0"/>
                <a:cs typeface="Arial" panose="020B0604020202020204" pitchFamily="34" charset="0"/>
              </a:rPr>
              <a:t>Introduction :  </a:t>
            </a:r>
          </a:p>
        </p:txBody>
      </p:sp>
      <p:sp>
        <p:nvSpPr>
          <p:cNvPr id="8" name="TextBox 7">
            <a:extLst>
              <a:ext uri="{FF2B5EF4-FFF2-40B4-BE49-F238E27FC236}">
                <a16:creationId xmlns:a16="http://schemas.microsoft.com/office/drawing/2014/main" id="{9A952AC9-03C8-9687-6C3E-93F7E4856CDD}"/>
              </a:ext>
            </a:extLst>
          </p:cNvPr>
          <p:cNvSpPr txBox="1"/>
          <p:nvPr/>
        </p:nvSpPr>
        <p:spPr>
          <a:xfrm>
            <a:off x="179883" y="656535"/>
            <a:ext cx="11832233" cy="6217087"/>
          </a:xfrm>
          <a:prstGeom prst="rect">
            <a:avLst/>
          </a:prstGeom>
          <a:noFill/>
        </p:spPr>
        <p:txBody>
          <a:bodyPr wrap="square">
            <a:spAutoFit/>
          </a:bodyPr>
          <a:lstStyle/>
          <a:p>
            <a:r>
              <a:rPr lang="en-CA" sz="2000" b="1" u="sng" dirty="0">
                <a:latin typeface="Arial" panose="020B0604020202020204" pitchFamily="34" charset="0"/>
                <a:cs typeface="Arial" panose="020B0604020202020204" pitchFamily="34" charset="0"/>
              </a:rPr>
              <a:t>Objective</a:t>
            </a:r>
            <a:r>
              <a:rPr lang="en-CA" sz="2000" b="1"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The study aims to find a way to</a:t>
            </a:r>
            <a:r>
              <a:rPr lang="en-CA" sz="2000" dirty="0">
                <a:solidFill>
                  <a:srgbClr val="C00000"/>
                </a:solidFill>
                <a:latin typeface="Arial" panose="020B0604020202020204" pitchFamily="34" charset="0"/>
                <a:cs typeface="Arial" panose="020B0604020202020204" pitchFamily="34" charset="0"/>
              </a:rPr>
              <a:t> maximize </a:t>
            </a:r>
            <a:r>
              <a:rPr lang="en-CA" sz="2000" dirty="0">
                <a:latin typeface="Arial" panose="020B0604020202020204" pitchFamily="34" charset="0"/>
                <a:cs typeface="Arial" panose="020B0604020202020204" pitchFamily="34" charset="0"/>
              </a:rPr>
              <a:t>the energy output of the 3 dams along the Lancang river by optimizing the outflow of the big upstream dam: </a:t>
            </a:r>
            <a:r>
              <a:rPr lang="en-CA" sz="2000" dirty="0"/>
              <a:t>Nuozhadu. (NDZ)</a:t>
            </a:r>
            <a:endParaRPr lang="en-CA" sz="2000" dirty="0">
              <a:latin typeface="Arial" panose="020B0604020202020204" pitchFamily="34" charset="0"/>
              <a:cs typeface="Arial" panose="020B0604020202020204" pitchFamily="34" charset="0"/>
            </a:endParaRPr>
          </a:p>
          <a:p>
            <a:endParaRPr lang="en-CA" sz="2000" dirty="0">
              <a:latin typeface="Arial" panose="020B0604020202020204" pitchFamily="34" charset="0"/>
              <a:cs typeface="Arial" panose="020B0604020202020204" pitchFamily="34" charset="0"/>
            </a:endParaRPr>
          </a:p>
          <a:p>
            <a:endParaRPr lang="en-CA" sz="2000" dirty="0">
              <a:latin typeface="Arial" panose="020B0604020202020204" pitchFamily="34" charset="0"/>
              <a:cs typeface="Arial" panose="020B0604020202020204" pitchFamily="34" charset="0"/>
            </a:endParaRPr>
          </a:p>
          <a:p>
            <a:r>
              <a:rPr lang="en-CA" sz="2000" b="1" u="sng" dirty="0">
                <a:latin typeface="Arial" panose="020B0604020202020204" pitchFamily="34" charset="0"/>
                <a:cs typeface="Arial" panose="020B0604020202020204" pitchFamily="34" charset="0"/>
              </a:rPr>
              <a:t>Challenges &amp; Solutions</a:t>
            </a:r>
            <a:r>
              <a:rPr lang="en-CA" sz="2000" b="1" dirty="0">
                <a:latin typeface="Arial" panose="020B0604020202020204" pitchFamily="34" charset="0"/>
                <a:cs typeface="Arial" panose="020B0604020202020204" pitchFamily="34" charset="0"/>
              </a:rPr>
              <a:t>: </a:t>
            </a:r>
          </a:p>
          <a:p>
            <a:endParaRPr lang="en-CA" sz="2000" dirty="0">
              <a:latin typeface="Arial" panose="020B0604020202020204" pitchFamily="34" charset="0"/>
              <a:cs typeface="Arial" panose="020B0604020202020204" pitchFamily="34" charset="0"/>
            </a:endParaRPr>
          </a:p>
          <a:p>
            <a:r>
              <a:rPr lang="en-CA" sz="2000" b="1" dirty="0">
                <a:solidFill>
                  <a:srgbClr val="FF0000"/>
                </a:solidFill>
                <a:latin typeface="Arial" panose="020B0604020202020204" pitchFamily="34" charset="0"/>
                <a:cs typeface="Arial" panose="020B0604020202020204" pitchFamily="34" charset="0"/>
              </a:rPr>
              <a:t>Challenge 1: </a:t>
            </a:r>
            <a:r>
              <a:rPr lang="en-CA" sz="2000" b="1" dirty="0">
                <a:latin typeface="Arial" panose="020B0604020202020204" pitchFamily="34" charset="0"/>
                <a:cs typeface="Arial" panose="020B0604020202020204" pitchFamily="34" charset="0"/>
              </a:rPr>
              <a:t>Limited historical data : </a:t>
            </a:r>
            <a:r>
              <a:rPr lang="en-CA" sz="2000" dirty="0">
                <a:latin typeface="Arial" panose="020B0604020202020204" pitchFamily="34" charset="0"/>
                <a:cs typeface="Arial" panose="020B0604020202020204" pitchFamily="34" charset="0"/>
              </a:rPr>
              <a:t>Researches had access to the natural day runoff and monthly runoff only for 60 years, between 1953 and 2013.</a:t>
            </a:r>
          </a:p>
          <a:p>
            <a:r>
              <a:rPr lang="en-CA" sz="2000" b="1" dirty="0">
                <a:solidFill>
                  <a:srgbClr val="00B050"/>
                </a:solidFill>
                <a:latin typeface="Arial" panose="020B0604020202020204" pitchFamily="34" charset="0"/>
                <a:cs typeface="Arial" panose="020B0604020202020204" pitchFamily="34" charset="0"/>
              </a:rPr>
              <a:t>Solution 1: </a:t>
            </a:r>
            <a:r>
              <a:rPr lang="en-CA" sz="2000" dirty="0">
                <a:latin typeface="Arial" panose="020B0604020202020204" pitchFamily="34" charset="0"/>
                <a:cs typeface="Arial" panose="020B0604020202020204" pitchFamily="34" charset="0"/>
              </a:rPr>
              <a:t>They used a statistical method combining </a:t>
            </a:r>
            <a:r>
              <a:rPr lang="en-CA" sz="2000" b="1" dirty="0">
                <a:latin typeface="Arial" panose="020B0604020202020204" pitchFamily="34" charset="0"/>
                <a:cs typeface="Arial" panose="020B0604020202020204" pitchFamily="34" charset="0"/>
              </a:rPr>
              <a:t>copulas</a:t>
            </a:r>
            <a:r>
              <a:rPr lang="en-CA" sz="2000" dirty="0">
                <a:latin typeface="Arial" panose="020B0604020202020204" pitchFamily="34" charset="0"/>
                <a:cs typeface="Arial" panose="020B0604020202020204" pitchFamily="34" charset="0"/>
              </a:rPr>
              <a:t> and </a:t>
            </a:r>
            <a:r>
              <a:rPr lang="en-CA" sz="2000" b="1" dirty="0">
                <a:latin typeface="Arial" panose="020B0604020202020204" pitchFamily="34" charset="0"/>
                <a:cs typeface="Arial" panose="020B0604020202020204" pitchFamily="34" charset="0"/>
              </a:rPr>
              <a:t>Gibbs sampling</a:t>
            </a:r>
            <a:r>
              <a:rPr lang="en-CA" sz="2000" dirty="0">
                <a:latin typeface="Arial" panose="020B0604020202020204" pitchFamily="34" charset="0"/>
                <a:cs typeface="Arial" panose="020B0604020202020204" pitchFamily="34" charset="0"/>
              </a:rPr>
              <a:t> to simulate </a:t>
            </a:r>
            <a:r>
              <a:rPr lang="en-CA" sz="2000" b="1" dirty="0">
                <a:latin typeface="Arial" panose="020B0604020202020204" pitchFamily="34" charset="0"/>
                <a:cs typeface="Arial" panose="020B0604020202020204" pitchFamily="34" charset="0"/>
              </a:rPr>
              <a:t>5000 years of runoff data</a:t>
            </a:r>
            <a:r>
              <a:rPr lang="en-CA" sz="2000" dirty="0">
                <a:latin typeface="Arial" panose="020B0604020202020204" pitchFamily="34" charset="0"/>
                <a:cs typeface="Arial" panose="020B0604020202020204" pitchFamily="34" charset="0"/>
              </a:rPr>
              <a:t>. They then compared this simulated data with actual historical records and found that </a:t>
            </a:r>
            <a:r>
              <a:rPr lang="en-CA" sz="2000" b="1" dirty="0">
                <a:latin typeface="Arial" panose="020B0604020202020204" pitchFamily="34" charset="0"/>
                <a:cs typeface="Arial" panose="020B0604020202020204" pitchFamily="34" charset="0"/>
              </a:rPr>
              <a:t>about 72% of the transitions matched</a:t>
            </a:r>
            <a:r>
              <a:rPr lang="en-CA" sz="2000" dirty="0">
                <a:latin typeface="Arial" panose="020B0604020202020204" pitchFamily="34" charset="0"/>
                <a:cs typeface="Arial" panose="020B0604020202020204" pitchFamily="34" charset="0"/>
              </a:rPr>
              <a:t> the real data. The remaining differences were also close, showing that the simulated inflows were realistic and reliable.</a:t>
            </a:r>
          </a:p>
          <a:p>
            <a:endParaRPr lang="en-CA" sz="2000" dirty="0">
              <a:latin typeface="Arial" panose="020B0604020202020204" pitchFamily="34" charset="0"/>
              <a:cs typeface="Arial" panose="020B0604020202020204" pitchFamily="34" charset="0"/>
            </a:endParaRPr>
          </a:p>
          <a:p>
            <a:r>
              <a:rPr lang="en-CA" sz="2000" b="1" dirty="0">
                <a:solidFill>
                  <a:srgbClr val="FF0000"/>
                </a:solidFill>
                <a:latin typeface="Arial" panose="020B0604020202020204" pitchFamily="34" charset="0"/>
                <a:cs typeface="Arial" panose="020B0604020202020204" pitchFamily="34" charset="0"/>
              </a:rPr>
              <a:t>Challenge 2: </a:t>
            </a:r>
            <a:r>
              <a:rPr lang="en-CA" sz="2000" b="1" dirty="0">
                <a:latin typeface="Arial" panose="020B0604020202020204" pitchFamily="34" charset="0"/>
                <a:cs typeface="Arial" panose="020B0604020202020204" pitchFamily="34" charset="0"/>
              </a:rPr>
              <a:t>Inflow is uncertain: </a:t>
            </a:r>
            <a:r>
              <a:rPr lang="en-CA" sz="2000" dirty="0">
                <a:latin typeface="Arial" panose="020B0604020202020204" pitchFamily="34" charset="0"/>
                <a:cs typeface="Arial" panose="020B0604020202020204" pitchFamily="34" charset="0"/>
              </a:rPr>
              <a:t>Due to variable rainfall, snowmelt, mist, etc.</a:t>
            </a:r>
          </a:p>
          <a:p>
            <a:r>
              <a:rPr lang="en-CA" sz="2000" b="1" dirty="0">
                <a:solidFill>
                  <a:srgbClr val="00B050"/>
                </a:solidFill>
                <a:latin typeface="Arial" panose="020B0604020202020204" pitchFamily="34" charset="0"/>
                <a:cs typeface="Arial" panose="020B0604020202020204" pitchFamily="34" charset="0"/>
              </a:rPr>
              <a:t>Solution 2: </a:t>
            </a:r>
            <a:r>
              <a:rPr lang="en-CA" sz="2000" dirty="0">
                <a:latin typeface="Arial" panose="020B0604020202020204" pitchFamily="34" charset="0"/>
                <a:cs typeface="Arial" panose="020B0604020202020204" pitchFamily="34" charset="0"/>
              </a:rPr>
              <a:t>Researchers used Stochastic dynamic programing to model the uncertainty.</a:t>
            </a:r>
          </a:p>
          <a:p>
            <a:endParaRPr lang="en-CA" sz="2000" dirty="0">
              <a:latin typeface="Arial" panose="020B0604020202020204" pitchFamily="34" charset="0"/>
              <a:cs typeface="Arial" panose="020B0604020202020204" pitchFamily="34" charset="0"/>
            </a:endParaRPr>
          </a:p>
          <a:p>
            <a:r>
              <a:rPr lang="en-CA" sz="2000" b="1" dirty="0">
                <a:solidFill>
                  <a:srgbClr val="FF0000"/>
                </a:solidFill>
                <a:latin typeface="Arial" panose="020B0604020202020204" pitchFamily="34" charset="0"/>
                <a:cs typeface="Arial" panose="020B0604020202020204" pitchFamily="34" charset="0"/>
              </a:rPr>
              <a:t>Challenge 3: </a:t>
            </a:r>
            <a:r>
              <a:rPr lang="en-CA" sz="2000" b="1" dirty="0">
                <a:latin typeface="Arial" panose="020B0604020202020204" pitchFamily="34" charset="0"/>
                <a:cs typeface="Arial" panose="020B0604020202020204" pitchFamily="34" charset="0"/>
              </a:rPr>
              <a:t>Solution must respect multiple constraints: </a:t>
            </a:r>
            <a:r>
              <a:rPr lang="en-CA" sz="2000" dirty="0">
                <a:latin typeface="Arial" panose="020B0604020202020204" pitchFamily="34" charset="0"/>
                <a:cs typeface="Arial" panose="020B0604020202020204" pitchFamily="34" charset="0"/>
              </a:rPr>
              <a:t> ecological flow, navigation (shipping), storage limits.</a:t>
            </a:r>
            <a:endParaRPr lang="en-CA" sz="2000" b="1" u="sng" dirty="0">
              <a:latin typeface="Arial" panose="020B0604020202020204" pitchFamily="34" charset="0"/>
              <a:cs typeface="Arial" panose="020B0604020202020204" pitchFamily="34" charset="0"/>
            </a:endParaRPr>
          </a:p>
          <a:p>
            <a:r>
              <a:rPr lang="en-CA" sz="2000" b="1" dirty="0">
                <a:solidFill>
                  <a:srgbClr val="00B050"/>
                </a:solidFill>
                <a:latin typeface="Arial" panose="020B0604020202020204" pitchFamily="34" charset="0"/>
                <a:cs typeface="Arial" panose="020B0604020202020204" pitchFamily="34" charset="0"/>
              </a:rPr>
              <a:t>Solution 3: </a:t>
            </a:r>
            <a:r>
              <a:rPr lang="en-CA" sz="2000" dirty="0">
                <a:latin typeface="Arial" panose="020B0604020202020204" pitchFamily="34" charset="0"/>
                <a:cs typeface="Arial" panose="020B0604020202020204" pitchFamily="34" charset="0"/>
              </a:rPr>
              <a:t>These constraints were directly incorporated into the SDP model.</a:t>
            </a:r>
            <a:endParaRPr lang="en-CA" dirty="0">
              <a:latin typeface="Arial" panose="020B0604020202020204" pitchFamily="34" charset="0"/>
              <a:cs typeface="Arial" panose="020B0604020202020204" pitchFamily="34" charset="0"/>
            </a:endParaRPr>
          </a:p>
          <a:p>
            <a:endParaRPr lang="en-CA" dirty="0">
              <a:latin typeface="Arial" panose="020B0604020202020204" pitchFamily="34" charset="0"/>
              <a:cs typeface="Arial" panose="020B0604020202020204" pitchFamily="34" charset="0"/>
            </a:endParaRPr>
          </a:p>
        </p:txBody>
      </p:sp>
      <p:pic>
        <p:nvPicPr>
          <p:cNvPr id="11" name="Picture 10" descr="A black symbols on a white background&#10;&#10;Description automatically generated">
            <a:extLst>
              <a:ext uri="{FF2B5EF4-FFF2-40B4-BE49-F238E27FC236}">
                <a16:creationId xmlns:a16="http://schemas.microsoft.com/office/drawing/2014/main" id="{1FB9D5C0-6101-7BD1-076E-5F435EBA02EA}"/>
              </a:ext>
            </a:extLst>
          </p:cNvPr>
          <p:cNvPicPr>
            <a:picLocks noChangeAspect="1"/>
          </p:cNvPicPr>
          <p:nvPr/>
        </p:nvPicPr>
        <p:blipFill>
          <a:blip r:embed="rId2"/>
          <a:stretch>
            <a:fillRect/>
          </a:stretch>
        </p:blipFill>
        <p:spPr>
          <a:xfrm>
            <a:off x="2320904" y="1378075"/>
            <a:ext cx="3157408" cy="579932"/>
          </a:xfrm>
          <a:prstGeom prst="rect">
            <a:avLst/>
          </a:prstGeom>
        </p:spPr>
      </p:pic>
    </p:spTree>
    <p:extLst>
      <p:ext uri="{BB962C8B-B14F-4D97-AF65-F5344CB8AC3E}">
        <p14:creationId xmlns:p14="http://schemas.microsoft.com/office/powerpoint/2010/main" val="351643486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270487-1867-2CD3-FA9C-0C078770AC9C}"/>
              </a:ext>
            </a:extLst>
          </p:cNvPr>
          <p:cNvSpPr txBox="1"/>
          <p:nvPr/>
        </p:nvSpPr>
        <p:spPr>
          <a:xfrm>
            <a:off x="494675" y="914401"/>
            <a:ext cx="9592455" cy="5539978"/>
          </a:xfrm>
          <a:prstGeom prst="rect">
            <a:avLst/>
          </a:prstGeom>
          <a:noFill/>
        </p:spPr>
        <p:txBody>
          <a:bodyPr wrap="square">
            <a:spAutoFit/>
          </a:bodyPr>
          <a:lstStyle/>
          <a:p>
            <a:r>
              <a:rPr lang="en-CA" sz="2000" b="1" dirty="0">
                <a:latin typeface="Arial" panose="020B0604020202020204" pitchFamily="34" charset="0"/>
                <a:cs typeface="Arial" panose="020B0604020202020204" pitchFamily="34" charset="0"/>
              </a:rPr>
              <a:t>States: </a:t>
            </a:r>
            <a:r>
              <a:rPr lang="en-CA" sz="2000" dirty="0">
                <a:latin typeface="Arial" panose="020B0604020202020204" pitchFamily="34" charset="0"/>
                <a:cs typeface="Arial" panose="020B0604020202020204" pitchFamily="34" charset="0"/>
              </a:rPr>
              <a:t>       Reservoir water level at the start of each month </a:t>
            </a:r>
          </a:p>
          <a:p>
            <a:r>
              <a:rPr lang="en-CA" sz="2000" b="1" dirty="0">
                <a:latin typeface="Arial" panose="020B0604020202020204" pitchFamily="34" charset="0"/>
                <a:cs typeface="Arial" panose="020B0604020202020204" pitchFamily="34" charset="0"/>
              </a:rPr>
              <a:t>Stages: </a:t>
            </a:r>
            <a:r>
              <a:rPr lang="en-CA" sz="2000" dirty="0">
                <a:latin typeface="Arial" panose="020B0604020202020204" pitchFamily="34" charset="0"/>
                <a:cs typeface="Arial" panose="020B0604020202020204" pitchFamily="34" charset="0"/>
              </a:rPr>
              <a:t>Months (t=current month). </a:t>
            </a:r>
          </a:p>
          <a:p>
            <a:r>
              <a:rPr lang="en-CA" sz="2000" b="1" dirty="0">
                <a:latin typeface="Arial" panose="020B0604020202020204" pitchFamily="34" charset="0"/>
                <a:cs typeface="Arial" panose="020B0604020202020204" pitchFamily="34" charset="0"/>
              </a:rPr>
              <a:t>Decision variable:</a:t>
            </a:r>
            <a:r>
              <a:rPr lang="en-CA" sz="2000" dirty="0">
                <a:latin typeface="Arial" panose="020B0604020202020204" pitchFamily="34" charset="0"/>
                <a:cs typeface="Arial" panose="020B0604020202020204" pitchFamily="34" charset="0"/>
              </a:rPr>
              <a:t>         Reservoir water level at the end of the month (controls outflow)</a:t>
            </a:r>
          </a:p>
          <a:p>
            <a:r>
              <a:rPr lang="en-CA" sz="2000" b="1" dirty="0">
                <a:latin typeface="Arial" panose="020B0604020202020204" pitchFamily="34" charset="0"/>
                <a:cs typeface="Arial" panose="020B0604020202020204" pitchFamily="34" charset="0"/>
              </a:rPr>
              <a:t>Random variable:</a:t>
            </a:r>
            <a:r>
              <a:rPr lang="en-CA" sz="2000" dirty="0">
                <a:latin typeface="Arial" panose="020B0604020202020204" pitchFamily="34" charset="0"/>
                <a:cs typeface="Arial" panose="020B0604020202020204" pitchFamily="34" charset="0"/>
              </a:rPr>
              <a:t> Monthly runoff (= monthly inflow)</a:t>
            </a:r>
          </a:p>
          <a:p>
            <a:r>
              <a:rPr lang="en-CA" sz="2000" b="1" dirty="0">
                <a:latin typeface="Arial" panose="020B0604020202020204" pitchFamily="34" charset="0"/>
                <a:cs typeface="Arial" panose="020B0604020202020204" pitchFamily="34" charset="0"/>
              </a:rPr>
              <a:t>Transition function:</a:t>
            </a:r>
            <a:r>
              <a:rPr lang="en-CA" sz="2000" dirty="0">
                <a:latin typeface="Arial" panose="020B0604020202020204" pitchFamily="34" charset="0"/>
                <a:cs typeface="Arial" panose="020B0604020202020204" pitchFamily="34" charset="0"/>
              </a:rPr>
              <a:t> Based on simulated runoff → transition probability matrix</a:t>
            </a:r>
          </a:p>
          <a:p>
            <a:endParaRPr lang="en-CA" b="1" dirty="0">
              <a:latin typeface="Arial" panose="020B0604020202020204" pitchFamily="34" charset="0"/>
              <a:cs typeface="Arial" panose="020B0604020202020204" pitchFamily="34" charset="0"/>
            </a:endParaRPr>
          </a:p>
          <a:p>
            <a:endParaRPr lang="en-CA" b="1" dirty="0">
              <a:latin typeface="Arial" panose="020B0604020202020204" pitchFamily="34" charset="0"/>
              <a:cs typeface="Arial" panose="020B0604020202020204" pitchFamily="34" charset="0"/>
            </a:endParaRPr>
          </a:p>
          <a:p>
            <a:endParaRPr lang="en-CA" b="1" dirty="0">
              <a:latin typeface="Arial" panose="020B0604020202020204" pitchFamily="34" charset="0"/>
              <a:cs typeface="Arial" panose="020B0604020202020204" pitchFamily="34" charset="0"/>
            </a:endParaRPr>
          </a:p>
          <a:p>
            <a:endParaRPr lang="en-CA" b="1" dirty="0">
              <a:latin typeface="Arial" panose="020B0604020202020204" pitchFamily="34" charset="0"/>
              <a:cs typeface="Arial" panose="020B0604020202020204" pitchFamily="34" charset="0"/>
            </a:endParaRPr>
          </a:p>
          <a:p>
            <a:endParaRPr lang="en-CA" b="1" dirty="0">
              <a:latin typeface="Arial" panose="020B0604020202020204" pitchFamily="34" charset="0"/>
              <a:cs typeface="Arial" panose="020B0604020202020204" pitchFamily="34" charset="0"/>
            </a:endParaRPr>
          </a:p>
          <a:p>
            <a:endParaRPr lang="en-CA" b="1" dirty="0">
              <a:latin typeface="Arial" panose="020B0604020202020204" pitchFamily="34" charset="0"/>
              <a:cs typeface="Arial" panose="020B0604020202020204" pitchFamily="34" charset="0"/>
            </a:endParaRPr>
          </a:p>
          <a:p>
            <a:endParaRPr lang="en-CA" b="1" dirty="0">
              <a:latin typeface="Arial" panose="020B0604020202020204" pitchFamily="34" charset="0"/>
              <a:cs typeface="Arial" panose="020B0604020202020204" pitchFamily="34" charset="0"/>
            </a:endParaRPr>
          </a:p>
          <a:p>
            <a:r>
              <a:rPr lang="en-CA" sz="2000" b="1" dirty="0">
                <a:latin typeface="Arial" panose="020B0604020202020204" pitchFamily="34" charset="0"/>
                <a:cs typeface="Arial" panose="020B0604020202020204" pitchFamily="34" charset="0"/>
              </a:rPr>
              <a:t>Bellman equation:</a:t>
            </a:r>
          </a:p>
          <a:p>
            <a:endParaRPr lang="en-CA" b="1" dirty="0">
              <a:latin typeface="Arial" panose="020B0604020202020204" pitchFamily="34" charset="0"/>
              <a:cs typeface="Arial" panose="020B0604020202020204" pitchFamily="34" charset="0"/>
            </a:endParaRPr>
          </a:p>
          <a:p>
            <a:endParaRPr lang="en-CA" b="1" dirty="0">
              <a:latin typeface="Arial" panose="020B0604020202020204" pitchFamily="34" charset="0"/>
              <a:cs typeface="Arial" panose="020B0604020202020204" pitchFamily="34" charset="0"/>
            </a:endParaRPr>
          </a:p>
          <a:p>
            <a:endParaRPr lang="en-CA" b="1" dirty="0">
              <a:latin typeface="Arial" panose="020B0604020202020204" pitchFamily="34" charset="0"/>
              <a:cs typeface="Arial" panose="020B0604020202020204" pitchFamily="34" charset="0"/>
            </a:endParaRPr>
          </a:p>
          <a:p>
            <a:endParaRPr lang="en-CA" b="1" dirty="0">
              <a:latin typeface="Arial" panose="020B0604020202020204" pitchFamily="34" charset="0"/>
              <a:cs typeface="Arial" panose="020B0604020202020204" pitchFamily="34" charset="0"/>
            </a:endParaRPr>
          </a:p>
          <a:p>
            <a:endParaRPr lang="en-CA"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2AB1BBA-F966-DDF7-D832-5D3EA49B6D04}"/>
              </a:ext>
            </a:extLst>
          </p:cNvPr>
          <p:cNvSpPr txBox="1"/>
          <p:nvPr/>
        </p:nvSpPr>
        <p:spPr>
          <a:xfrm>
            <a:off x="494675" y="160108"/>
            <a:ext cx="6100996" cy="461665"/>
          </a:xfrm>
          <a:prstGeom prst="rect">
            <a:avLst/>
          </a:prstGeom>
          <a:noFill/>
        </p:spPr>
        <p:txBody>
          <a:bodyPr wrap="square">
            <a:spAutoFit/>
          </a:bodyPr>
          <a:lstStyle/>
          <a:p>
            <a:r>
              <a:rPr lang="en-US" sz="2400" b="1" dirty="0">
                <a:solidFill>
                  <a:srgbClr val="00B0F0"/>
                </a:solidFill>
                <a:latin typeface="Arial" panose="020B0604020202020204" pitchFamily="34" charset="0"/>
                <a:cs typeface="Arial" panose="020B0604020202020204" pitchFamily="34" charset="0"/>
              </a:rPr>
              <a:t>SDP formulation :  </a:t>
            </a:r>
          </a:p>
        </p:txBody>
      </p:sp>
      <p:pic>
        <p:nvPicPr>
          <p:cNvPr id="9" name="Picture 8" descr="A diagram of a number of letters&#10;&#10;Description automatically generated with medium confidence">
            <a:extLst>
              <a:ext uri="{FF2B5EF4-FFF2-40B4-BE49-F238E27FC236}">
                <a16:creationId xmlns:a16="http://schemas.microsoft.com/office/drawing/2014/main" id="{41E53806-DB7E-8E08-49E7-42576299EF20}"/>
              </a:ext>
            </a:extLst>
          </p:cNvPr>
          <p:cNvPicPr>
            <a:picLocks noChangeAspect="1"/>
          </p:cNvPicPr>
          <p:nvPr/>
        </p:nvPicPr>
        <p:blipFill>
          <a:blip r:embed="rId2"/>
          <a:stretch>
            <a:fillRect/>
          </a:stretch>
        </p:blipFill>
        <p:spPr>
          <a:xfrm>
            <a:off x="645512" y="2921796"/>
            <a:ext cx="3762697" cy="1528789"/>
          </a:xfrm>
          <a:prstGeom prst="rect">
            <a:avLst/>
          </a:prstGeom>
        </p:spPr>
      </p:pic>
      <p:pic>
        <p:nvPicPr>
          <p:cNvPr id="11" name="Picture 10">
            <a:extLst>
              <a:ext uri="{FF2B5EF4-FFF2-40B4-BE49-F238E27FC236}">
                <a16:creationId xmlns:a16="http://schemas.microsoft.com/office/drawing/2014/main" id="{636F381C-A48D-9A4C-85F3-6AB5812F268C}"/>
              </a:ext>
            </a:extLst>
          </p:cNvPr>
          <p:cNvPicPr>
            <a:picLocks noChangeAspect="1"/>
          </p:cNvPicPr>
          <p:nvPr/>
        </p:nvPicPr>
        <p:blipFill>
          <a:blip r:embed="rId3"/>
          <a:stretch>
            <a:fillRect/>
          </a:stretch>
        </p:blipFill>
        <p:spPr>
          <a:xfrm>
            <a:off x="494675" y="5255595"/>
            <a:ext cx="8514414" cy="876710"/>
          </a:xfrm>
          <a:prstGeom prst="rect">
            <a:avLst/>
          </a:prstGeom>
        </p:spPr>
      </p:pic>
      <p:pic>
        <p:nvPicPr>
          <p:cNvPr id="13" name="Picture 12">
            <a:extLst>
              <a:ext uri="{FF2B5EF4-FFF2-40B4-BE49-F238E27FC236}">
                <a16:creationId xmlns:a16="http://schemas.microsoft.com/office/drawing/2014/main" id="{D9CCC9DE-4BBD-E72F-FE4C-BAC1DC42E280}"/>
              </a:ext>
            </a:extLst>
          </p:cNvPr>
          <p:cNvPicPr>
            <a:picLocks noChangeAspect="1"/>
          </p:cNvPicPr>
          <p:nvPr/>
        </p:nvPicPr>
        <p:blipFill>
          <a:blip r:embed="rId4"/>
          <a:stretch>
            <a:fillRect/>
          </a:stretch>
        </p:blipFill>
        <p:spPr>
          <a:xfrm>
            <a:off x="2883213" y="1627077"/>
            <a:ext cx="388028" cy="291022"/>
          </a:xfrm>
          <a:prstGeom prst="rect">
            <a:avLst/>
          </a:prstGeom>
        </p:spPr>
      </p:pic>
      <p:pic>
        <p:nvPicPr>
          <p:cNvPr id="15" name="Picture 14">
            <a:extLst>
              <a:ext uri="{FF2B5EF4-FFF2-40B4-BE49-F238E27FC236}">
                <a16:creationId xmlns:a16="http://schemas.microsoft.com/office/drawing/2014/main" id="{76AE4914-5385-0F27-95FA-3185C4239A8D}"/>
              </a:ext>
            </a:extLst>
          </p:cNvPr>
          <p:cNvPicPr>
            <a:picLocks noChangeAspect="1"/>
          </p:cNvPicPr>
          <p:nvPr/>
        </p:nvPicPr>
        <p:blipFill>
          <a:blip r:embed="rId5"/>
          <a:stretch>
            <a:fillRect/>
          </a:stretch>
        </p:blipFill>
        <p:spPr>
          <a:xfrm>
            <a:off x="1499028" y="960976"/>
            <a:ext cx="411420" cy="316477"/>
          </a:xfrm>
          <a:prstGeom prst="rect">
            <a:avLst/>
          </a:prstGeom>
        </p:spPr>
      </p:pic>
    </p:spTree>
    <p:extLst>
      <p:ext uri="{BB962C8B-B14F-4D97-AF65-F5344CB8AC3E}">
        <p14:creationId xmlns:p14="http://schemas.microsoft.com/office/powerpoint/2010/main" val="48700267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C1D7E8-D19E-07E9-D18E-F534551910A4}"/>
              </a:ext>
            </a:extLst>
          </p:cNvPr>
          <p:cNvSpPr txBox="1"/>
          <p:nvPr/>
        </p:nvSpPr>
        <p:spPr>
          <a:xfrm>
            <a:off x="494674" y="97863"/>
            <a:ext cx="6100996" cy="461665"/>
          </a:xfrm>
          <a:prstGeom prst="rect">
            <a:avLst/>
          </a:prstGeom>
          <a:noFill/>
        </p:spPr>
        <p:txBody>
          <a:bodyPr wrap="square">
            <a:spAutoFit/>
          </a:bodyPr>
          <a:lstStyle/>
          <a:p>
            <a:r>
              <a:rPr lang="en-US" sz="2400" b="1" dirty="0">
                <a:solidFill>
                  <a:srgbClr val="00B0F0"/>
                </a:solidFill>
                <a:latin typeface="Arial" panose="020B0604020202020204" pitchFamily="34" charset="0"/>
                <a:cs typeface="Arial" panose="020B0604020202020204" pitchFamily="34" charset="0"/>
              </a:rPr>
              <a:t>Constraints :  </a:t>
            </a:r>
          </a:p>
        </p:txBody>
      </p:sp>
      <p:pic>
        <p:nvPicPr>
          <p:cNvPr id="4" name="Picture 3" descr="A white sheet with black text and symbols&#10;&#10;Description automatically generated">
            <a:extLst>
              <a:ext uri="{FF2B5EF4-FFF2-40B4-BE49-F238E27FC236}">
                <a16:creationId xmlns:a16="http://schemas.microsoft.com/office/drawing/2014/main" id="{F4AB4E6A-0541-7F37-E7FD-9EA5A9A04950}"/>
              </a:ext>
            </a:extLst>
          </p:cNvPr>
          <p:cNvPicPr>
            <a:picLocks noChangeAspect="1"/>
          </p:cNvPicPr>
          <p:nvPr/>
        </p:nvPicPr>
        <p:blipFill>
          <a:blip r:embed="rId2"/>
          <a:stretch>
            <a:fillRect/>
          </a:stretch>
        </p:blipFill>
        <p:spPr>
          <a:xfrm>
            <a:off x="494674" y="700582"/>
            <a:ext cx="6181199" cy="3010876"/>
          </a:xfrm>
          <a:prstGeom prst="rect">
            <a:avLst/>
          </a:prstGeom>
        </p:spPr>
      </p:pic>
      <p:pic>
        <p:nvPicPr>
          <p:cNvPr id="6" name="Picture 5" descr="A white background with black text&#10;&#10;Description automatically generated">
            <a:extLst>
              <a:ext uri="{FF2B5EF4-FFF2-40B4-BE49-F238E27FC236}">
                <a16:creationId xmlns:a16="http://schemas.microsoft.com/office/drawing/2014/main" id="{49A1417C-350B-90E8-92C1-0211ED8F7735}"/>
              </a:ext>
            </a:extLst>
          </p:cNvPr>
          <p:cNvPicPr>
            <a:picLocks noChangeAspect="1"/>
          </p:cNvPicPr>
          <p:nvPr/>
        </p:nvPicPr>
        <p:blipFill>
          <a:blip r:embed="rId3"/>
          <a:stretch>
            <a:fillRect/>
          </a:stretch>
        </p:blipFill>
        <p:spPr>
          <a:xfrm>
            <a:off x="494674" y="3985613"/>
            <a:ext cx="5812963" cy="2171805"/>
          </a:xfrm>
          <a:prstGeom prst="rect">
            <a:avLst/>
          </a:prstGeom>
        </p:spPr>
      </p:pic>
      <p:pic>
        <p:nvPicPr>
          <p:cNvPr id="8" name="Picture 7">
            <a:extLst>
              <a:ext uri="{FF2B5EF4-FFF2-40B4-BE49-F238E27FC236}">
                <a16:creationId xmlns:a16="http://schemas.microsoft.com/office/drawing/2014/main" id="{98266BC5-3B56-DA79-AA30-F60DC7DC05A6}"/>
              </a:ext>
            </a:extLst>
          </p:cNvPr>
          <p:cNvPicPr>
            <a:picLocks noChangeAspect="1"/>
          </p:cNvPicPr>
          <p:nvPr/>
        </p:nvPicPr>
        <p:blipFill>
          <a:blip r:embed="rId4"/>
          <a:stretch>
            <a:fillRect/>
          </a:stretch>
        </p:blipFill>
        <p:spPr>
          <a:xfrm flipH="1">
            <a:off x="4678003" y="4521478"/>
            <a:ext cx="331035" cy="350507"/>
          </a:xfrm>
          <a:prstGeom prst="rect">
            <a:avLst/>
          </a:prstGeom>
        </p:spPr>
      </p:pic>
      <p:pic>
        <p:nvPicPr>
          <p:cNvPr id="9" name="Picture 8">
            <a:extLst>
              <a:ext uri="{FF2B5EF4-FFF2-40B4-BE49-F238E27FC236}">
                <a16:creationId xmlns:a16="http://schemas.microsoft.com/office/drawing/2014/main" id="{55D1602C-4C42-2005-539F-B30CBF10395F}"/>
              </a:ext>
            </a:extLst>
          </p:cNvPr>
          <p:cNvPicPr>
            <a:picLocks noChangeAspect="1"/>
          </p:cNvPicPr>
          <p:nvPr/>
        </p:nvPicPr>
        <p:blipFill>
          <a:blip r:embed="rId4"/>
          <a:stretch>
            <a:fillRect/>
          </a:stretch>
        </p:blipFill>
        <p:spPr>
          <a:xfrm flipH="1">
            <a:off x="4545093" y="5806911"/>
            <a:ext cx="331035" cy="350507"/>
          </a:xfrm>
          <a:prstGeom prst="rect">
            <a:avLst/>
          </a:prstGeom>
        </p:spPr>
      </p:pic>
    </p:spTree>
    <p:extLst>
      <p:ext uri="{BB962C8B-B14F-4D97-AF65-F5344CB8AC3E}">
        <p14:creationId xmlns:p14="http://schemas.microsoft.com/office/powerpoint/2010/main" val="257827558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B012D44-D798-73FD-FD00-BB5A4977A0DA}"/>
              </a:ext>
            </a:extLst>
          </p:cNvPr>
          <p:cNvSpPr txBox="1"/>
          <p:nvPr/>
        </p:nvSpPr>
        <p:spPr>
          <a:xfrm>
            <a:off x="202790" y="161921"/>
            <a:ext cx="6098458" cy="461665"/>
          </a:xfrm>
          <a:prstGeom prst="rect">
            <a:avLst/>
          </a:prstGeom>
          <a:noFill/>
        </p:spPr>
        <p:txBody>
          <a:bodyPr wrap="square">
            <a:spAutoFit/>
          </a:bodyPr>
          <a:lstStyle/>
          <a:p>
            <a:r>
              <a:rPr lang="en-US" sz="2400" b="1" dirty="0">
                <a:solidFill>
                  <a:srgbClr val="00B0F0"/>
                </a:solidFill>
                <a:latin typeface="Arial" panose="020B0604020202020204" pitchFamily="34" charset="0"/>
                <a:cs typeface="Arial" panose="020B0604020202020204" pitchFamily="34" charset="0"/>
              </a:rPr>
              <a:t>Results :  </a:t>
            </a:r>
          </a:p>
        </p:txBody>
      </p:sp>
      <p:pic>
        <p:nvPicPr>
          <p:cNvPr id="3" name="Picture 2" descr="A graph with numbers and a line&#10;&#10;Description automatically generated">
            <a:extLst>
              <a:ext uri="{FF2B5EF4-FFF2-40B4-BE49-F238E27FC236}">
                <a16:creationId xmlns:a16="http://schemas.microsoft.com/office/drawing/2014/main" id="{70BB6F35-5725-E49E-D61D-FADE2DB0964C}"/>
              </a:ext>
            </a:extLst>
          </p:cNvPr>
          <p:cNvPicPr>
            <a:picLocks noChangeAspect="1"/>
          </p:cNvPicPr>
          <p:nvPr/>
        </p:nvPicPr>
        <p:blipFill>
          <a:blip r:embed="rId3"/>
          <a:stretch>
            <a:fillRect/>
          </a:stretch>
        </p:blipFill>
        <p:spPr>
          <a:xfrm>
            <a:off x="202790" y="795829"/>
            <a:ext cx="2739126" cy="2363007"/>
          </a:xfrm>
          <a:prstGeom prst="rect">
            <a:avLst/>
          </a:prstGeom>
        </p:spPr>
      </p:pic>
      <p:pic>
        <p:nvPicPr>
          <p:cNvPr id="6" name="Picture 5" descr="A graph with numbers and colored dots&#10;&#10;Description automatically generated">
            <a:extLst>
              <a:ext uri="{FF2B5EF4-FFF2-40B4-BE49-F238E27FC236}">
                <a16:creationId xmlns:a16="http://schemas.microsoft.com/office/drawing/2014/main" id="{31F27274-9F88-E4D8-E3B4-91AA4AF70C10}"/>
              </a:ext>
            </a:extLst>
          </p:cNvPr>
          <p:cNvPicPr>
            <a:picLocks noChangeAspect="1"/>
          </p:cNvPicPr>
          <p:nvPr/>
        </p:nvPicPr>
        <p:blipFill>
          <a:blip r:embed="rId4"/>
          <a:stretch>
            <a:fillRect/>
          </a:stretch>
        </p:blipFill>
        <p:spPr>
          <a:xfrm>
            <a:off x="2813776" y="618699"/>
            <a:ext cx="2698375" cy="2540138"/>
          </a:xfrm>
          <a:prstGeom prst="rect">
            <a:avLst/>
          </a:prstGeom>
        </p:spPr>
      </p:pic>
      <p:pic>
        <p:nvPicPr>
          <p:cNvPr id="8" name="Picture 7" descr="A graph of water level&#10;&#10;Description automatically generated">
            <a:extLst>
              <a:ext uri="{FF2B5EF4-FFF2-40B4-BE49-F238E27FC236}">
                <a16:creationId xmlns:a16="http://schemas.microsoft.com/office/drawing/2014/main" id="{0E396C60-4A32-81DA-D31C-B7DDAA864C65}"/>
              </a:ext>
            </a:extLst>
          </p:cNvPr>
          <p:cNvPicPr>
            <a:picLocks noChangeAspect="1"/>
          </p:cNvPicPr>
          <p:nvPr/>
        </p:nvPicPr>
        <p:blipFill>
          <a:blip r:embed="rId5"/>
          <a:stretch>
            <a:fillRect/>
          </a:stretch>
        </p:blipFill>
        <p:spPr>
          <a:xfrm>
            <a:off x="5918420" y="708647"/>
            <a:ext cx="2875955" cy="2616860"/>
          </a:xfrm>
          <a:prstGeom prst="rect">
            <a:avLst/>
          </a:prstGeom>
        </p:spPr>
      </p:pic>
      <p:pic>
        <p:nvPicPr>
          <p:cNvPr id="10" name="Picture 9" descr="A graph of water level&#10;&#10;Description automatically generated">
            <a:extLst>
              <a:ext uri="{FF2B5EF4-FFF2-40B4-BE49-F238E27FC236}">
                <a16:creationId xmlns:a16="http://schemas.microsoft.com/office/drawing/2014/main" id="{90ACE2C3-05D6-5092-F333-4A76CD55D47C}"/>
              </a:ext>
            </a:extLst>
          </p:cNvPr>
          <p:cNvPicPr>
            <a:picLocks noChangeAspect="1"/>
          </p:cNvPicPr>
          <p:nvPr/>
        </p:nvPicPr>
        <p:blipFill>
          <a:blip r:embed="rId6"/>
          <a:stretch>
            <a:fillRect/>
          </a:stretch>
        </p:blipFill>
        <p:spPr>
          <a:xfrm>
            <a:off x="202790" y="3325507"/>
            <a:ext cx="2610986" cy="2259363"/>
          </a:xfrm>
          <a:prstGeom prst="rect">
            <a:avLst/>
          </a:prstGeom>
        </p:spPr>
      </p:pic>
      <p:sp>
        <p:nvSpPr>
          <p:cNvPr id="11" name="TextBox 10">
            <a:extLst>
              <a:ext uri="{FF2B5EF4-FFF2-40B4-BE49-F238E27FC236}">
                <a16:creationId xmlns:a16="http://schemas.microsoft.com/office/drawing/2014/main" id="{42A0CD71-5E13-A059-77A7-C7C88F22024C}"/>
              </a:ext>
            </a:extLst>
          </p:cNvPr>
          <p:cNvSpPr txBox="1"/>
          <p:nvPr/>
        </p:nvSpPr>
        <p:spPr>
          <a:xfrm>
            <a:off x="2796014" y="3615615"/>
            <a:ext cx="7010467" cy="295465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The optimal policy:</a:t>
            </a:r>
          </a:p>
          <a:p>
            <a:endParaRPr lang="en-US" sz="1400" dirty="0">
              <a:latin typeface="Arial" panose="020B0604020202020204" pitchFamily="34" charset="0"/>
              <a:cs typeface="Arial" panose="020B0604020202020204" pitchFamily="34" charset="0"/>
            </a:endParaRPr>
          </a:p>
          <a:p>
            <a:r>
              <a:rPr lang="en-CA" sz="1400" dirty="0">
                <a:latin typeface="Arial" panose="020B0604020202020204" pitchFamily="34" charset="0"/>
                <a:cs typeface="Arial" panose="020B0604020202020204" pitchFamily="34" charset="0"/>
              </a:rPr>
              <a:t>1. The model produces an </a:t>
            </a:r>
            <a:r>
              <a:rPr lang="en-CA" sz="1400" b="1" dirty="0">
                <a:latin typeface="Arial" panose="020B0604020202020204" pitchFamily="34" charset="0"/>
                <a:cs typeface="Arial" panose="020B0604020202020204" pitchFamily="34" charset="0"/>
              </a:rPr>
              <a:t>optimal policy</a:t>
            </a:r>
            <a:r>
              <a:rPr lang="en-CA" sz="1400" dirty="0">
                <a:latin typeface="Arial" panose="020B0604020202020204" pitchFamily="34" charset="0"/>
                <a:cs typeface="Arial" panose="020B0604020202020204" pitchFamily="34" charset="0"/>
              </a:rPr>
              <a:t> that tells the operator what “end-of-month water level” to aim for.</a:t>
            </a:r>
          </a:p>
          <a:p>
            <a:r>
              <a:rPr lang="en-CA" sz="1400" dirty="0">
                <a:latin typeface="Arial" panose="020B0604020202020204" pitchFamily="34" charset="0"/>
                <a:cs typeface="Arial" panose="020B0604020202020204" pitchFamily="34" charset="0"/>
              </a:rPr>
              <a:t>2. This decision depends on both the </a:t>
            </a:r>
            <a:r>
              <a:rPr lang="en-CA" sz="1400" b="1" dirty="0">
                <a:latin typeface="Arial" panose="020B0604020202020204" pitchFamily="34" charset="0"/>
                <a:cs typeface="Arial" panose="020B0604020202020204" pitchFamily="34" charset="0"/>
              </a:rPr>
              <a:t>starting water level</a:t>
            </a:r>
            <a:r>
              <a:rPr lang="en-CA" sz="1400" dirty="0">
                <a:latin typeface="Arial" panose="020B0604020202020204" pitchFamily="34" charset="0"/>
                <a:cs typeface="Arial" panose="020B0604020202020204" pitchFamily="34" charset="0"/>
              </a:rPr>
              <a:t> and the </a:t>
            </a:r>
            <a:r>
              <a:rPr lang="en-CA" sz="1400" b="1" dirty="0">
                <a:solidFill>
                  <a:srgbClr val="0070C0"/>
                </a:solidFill>
                <a:latin typeface="Arial" panose="020B0604020202020204" pitchFamily="34" charset="0"/>
                <a:cs typeface="Arial" panose="020B0604020202020204" pitchFamily="34" charset="0"/>
              </a:rPr>
              <a:t>runoff category (QR1–QR10)</a:t>
            </a:r>
            <a:r>
              <a:rPr lang="en-CA" sz="1400" dirty="0">
                <a:solidFill>
                  <a:srgbClr val="0070C0"/>
                </a:solidFill>
                <a:latin typeface="Arial" panose="020B0604020202020204" pitchFamily="34" charset="0"/>
                <a:cs typeface="Arial" panose="020B0604020202020204" pitchFamily="34" charset="0"/>
              </a:rPr>
              <a:t>.</a:t>
            </a:r>
          </a:p>
          <a:p>
            <a:r>
              <a:rPr lang="en-CA" sz="1400" dirty="0">
                <a:latin typeface="Arial" panose="020B0604020202020204" pitchFamily="34" charset="0"/>
                <a:cs typeface="Arial" panose="020B0604020202020204" pitchFamily="34" charset="0"/>
              </a:rPr>
              <a:t>In </a:t>
            </a:r>
            <a:r>
              <a:rPr lang="en-CA" sz="1400" b="1" dirty="0">
                <a:latin typeface="Arial" panose="020B0604020202020204" pitchFamily="34" charset="0"/>
                <a:cs typeface="Arial" panose="020B0604020202020204" pitchFamily="34" charset="0"/>
              </a:rPr>
              <a:t>wet months (July–September)</a:t>
            </a:r>
            <a:r>
              <a:rPr lang="en-CA" sz="1400" dirty="0">
                <a:latin typeface="Arial" panose="020B0604020202020204" pitchFamily="34" charset="0"/>
                <a:cs typeface="Arial" panose="020B0604020202020204" pitchFamily="34" charset="0"/>
              </a:rPr>
              <a:t>, the policy is more scattered due to high inflow variability, which allow for higher discharge.</a:t>
            </a:r>
          </a:p>
          <a:p>
            <a:r>
              <a:rPr lang="en-CA" sz="1400" dirty="0">
                <a:latin typeface="Arial" panose="020B0604020202020204" pitchFamily="34" charset="0"/>
                <a:cs typeface="Arial" panose="020B0604020202020204" pitchFamily="34" charset="0"/>
              </a:rPr>
              <a:t>In </a:t>
            </a:r>
            <a:r>
              <a:rPr lang="en-CA" sz="1400" b="1" dirty="0">
                <a:latin typeface="Arial" panose="020B0604020202020204" pitchFamily="34" charset="0"/>
                <a:cs typeface="Arial" panose="020B0604020202020204" pitchFamily="34" charset="0"/>
              </a:rPr>
              <a:t>dry months</a:t>
            </a:r>
            <a:r>
              <a:rPr lang="en-CA" sz="1400" dirty="0">
                <a:latin typeface="Arial" panose="020B0604020202020204" pitchFamily="34" charset="0"/>
                <a:cs typeface="Arial" panose="020B0604020202020204" pitchFamily="34" charset="0"/>
              </a:rPr>
              <a:t>, the policy is more stable and predictable — decisions change smoothly with water level, less discharge, more filling up the reservoir.</a:t>
            </a: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45120941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55E405-568B-B0BF-F240-F7B66CA871BA}"/>
              </a:ext>
            </a:extLst>
          </p:cNvPr>
          <p:cNvPicPr>
            <a:picLocks noChangeAspect="1"/>
          </p:cNvPicPr>
          <p:nvPr/>
        </p:nvPicPr>
        <p:blipFill>
          <a:blip r:embed="rId2"/>
          <a:srcRect t="2947" b="40803"/>
          <a:stretch/>
        </p:blipFill>
        <p:spPr>
          <a:xfrm>
            <a:off x="20" y="10"/>
            <a:ext cx="12191980" cy="6857990"/>
          </a:xfrm>
          <a:prstGeom prst="rect">
            <a:avLst/>
          </a:prstGeom>
        </p:spPr>
      </p:pic>
      <p:sp>
        <p:nvSpPr>
          <p:cNvPr id="9" name="Freeform: Shape 8">
            <a:extLst>
              <a:ext uri="{FF2B5EF4-FFF2-40B4-BE49-F238E27FC236}">
                <a16:creationId xmlns:a16="http://schemas.microsoft.com/office/drawing/2014/main" id="{85C2136B-77EC-41E9-BDB6-58A4AE1429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33800"/>
            <a:ext cx="762000" cy="3124200"/>
          </a:xfrm>
          <a:custGeom>
            <a:avLst/>
            <a:gdLst>
              <a:gd name="connsiteX0" fmla="*/ 0 w 762000"/>
              <a:gd name="connsiteY0" fmla="*/ 0 h 3124200"/>
              <a:gd name="connsiteX1" fmla="*/ 762000 w 762000"/>
              <a:gd name="connsiteY1" fmla="*/ 3124200 h 3124200"/>
              <a:gd name="connsiteX2" fmla="*/ 0 w 762000"/>
              <a:gd name="connsiteY2" fmla="*/ 3124200 h 3124200"/>
            </a:gdLst>
            <a:ahLst/>
            <a:cxnLst>
              <a:cxn ang="0">
                <a:pos x="connsiteX0" y="connsiteY0"/>
              </a:cxn>
              <a:cxn ang="0">
                <a:pos x="connsiteX1" y="connsiteY1"/>
              </a:cxn>
              <a:cxn ang="0">
                <a:pos x="connsiteX2" y="connsiteY2"/>
              </a:cxn>
            </a:cxnLst>
            <a:rect l="l" t="t" r="r" b="b"/>
            <a:pathLst>
              <a:path w="762000" h="3124200">
                <a:moveTo>
                  <a:pt x="0" y="0"/>
                </a:moveTo>
                <a:lnTo>
                  <a:pt x="762000" y="3124200"/>
                </a:lnTo>
                <a:lnTo>
                  <a:pt x="0" y="31242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1" name="Straight Connector 10">
            <a:extLst>
              <a:ext uri="{FF2B5EF4-FFF2-40B4-BE49-F238E27FC236}">
                <a16:creationId xmlns:a16="http://schemas.microsoft.com/office/drawing/2014/main" id="{E55891F3-A5E2-4418-8950-25FA2B7312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9274002" y="4502552"/>
            <a:ext cx="2917998" cy="235544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B1FCEB1-A7E1-417C-A7EF-AA30D5A0859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3500" y="-16625"/>
            <a:ext cx="2667482" cy="68746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Shape 14">
            <a:extLst>
              <a:ext uri="{FF2B5EF4-FFF2-40B4-BE49-F238E27FC236}">
                <a16:creationId xmlns:a16="http://schemas.microsoft.com/office/drawing/2014/main" id="{7FBCF2A6-1F18-4B68-B5D2-5B763ED41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2923" y="-16625"/>
            <a:ext cx="1269077" cy="6874625"/>
          </a:xfrm>
          <a:custGeom>
            <a:avLst/>
            <a:gdLst>
              <a:gd name="connsiteX0" fmla="*/ 714894 w 1269077"/>
              <a:gd name="connsiteY0" fmla="*/ 0 h 6874625"/>
              <a:gd name="connsiteX1" fmla="*/ 1269077 w 1269077"/>
              <a:gd name="connsiteY1" fmla="*/ 16625 h 6874625"/>
              <a:gd name="connsiteX2" fmla="*/ 1269077 w 1269077"/>
              <a:gd name="connsiteY2" fmla="*/ 6874625 h 6874625"/>
              <a:gd name="connsiteX3" fmla="*/ 0 w 1269077"/>
              <a:gd name="connsiteY3" fmla="*/ 6874625 h 6874625"/>
            </a:gdLst>
            <a:ahLst/>
            <a:cxnLst>
              <a:cxn ang="0">
                <a:pos x="connsiteX0" y="connsiteY0"/>
              </a:cxn>
              <a:cxn ang="0">
                <a:pos x="connsiteX1" y="connsiteY1"/>
              </a:cxn>
              <a:cxn ang="0">
                <a:pos x="connsiteX2" y="connsiteY2"/>
              </a:cxn>
              <a:cxn ang="0">
                <a:pos x="connsiteX3" y="connsiteY3"/>
              </a:cxn>
            </a:cxnLst>
            <a:rect l="l" t="t" r="r" b="b"/>
            <a:pathLst>
              <a:path w="1269077" h="6874625">
                <a:moveTo>
                  <a:pt x="714894" y="0"/>
                </a:moveTo>
                <a:lnTo>
                  <a:pt x="1269077" y="16625"/>
                </a:lnTo>
                <a:lnTo>
                  <a:pt x="1269077" y="6874625"/>
                </a:lnTo>
                <a:lnTo>
                  <a:pt x="0" y="6874625"/>
                </a:lnTo>
                <a:close/>
              </a:path>
            </a:pathLst>
          </a:custGeom>
          <a:solidFill>
            <a:schemeClr val="accent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FF3A27FB-A693-4A75-951E-0C77CD98F0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374" y="-16624"/>
            <a:ext cx="1983626" cy="6874625"/>
          </a:xfrm>
          <a:custGeom>
            <a:avLst/>
            <a:gdLst>
              <a:gd name="connsiteX0" fmla="*/ 0 w 1983626"/>
              <a:gd name="connsiteY0" fmla="*/ 0 h 6874625"/>
              <a:gd name="connsiteX1" fmla="*/ 1983626 w 1983626"/>
              <a:gd name="connsiteY1" fmla="*/ 0 h 6874625"/>
              <a:gd name="connsiteX2" fmla="*/ 1983626 w 1983626"/>
              <a:gd name="connsiteY2" fmla="*/ 6874625 h 6874625"/>
              <a:gd name="connsiteX3" fmla="*/ 1522181 w 1983626"/>
              <a:gd name="connsiteY3" fmla="*/ 6874625 h 6874625"/>
            </a:gdLst>
            <a:ahLst/>
            <a:cxnLst>
              <a:cxn ang="0">
                <a:pos x="connsiteX0" y="connsiteY0"/>
              </a:cxn>
              <a:cxn ang="0">
                <a:pos x="connsiteX1" y="connsiteY1"/>
              </a:cxn>
              <a:cxn ang="0">
                <a:pos x="connsiteX2" y="connsiteY2"/>
              </a:cxn>
              <a:cxn ang="0">
                <a:pos x="connsiteX3" y="connsiteY3"/>
              </a:cxn>
            </a:cxnLst>
            <a:rect l="l" t="t" r="r" b="b"/>
            <a:pathLst>
              <a:path w="1983626" h="6874625">
                <a:moveTo>
                  <a:pt x="0" y="0"/>
                </a:moveTo>
                <a:lnTo>
                  <a:pt x="1983626" y="0"/>
                </a:lnTo>
                <a:lnTo>
                  <a:pt x="1983626" y="6874625"/>
                </a:lnTo>
                <a:lnTo>
                  <a:pt x="1522181" y="6874625"/>
                </a:lnTo>
                <a:close/>
              </a:path>
            </a:pathLst>
          </a:cu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91883FD7-2255-FA97-0611-155FE7ADB86C}"/>
              </a:ext>
            </a:extLst>
          </p:cNvPr>
          <p:cNvPicPr>
            <a:picLocks noChangeAspect="1"/>
          </p:cNvPicPr>
          <p:nvPr/>
        </p:nvPicPr>
        <p:blipFill>
          <a:blip r:embed="rId3"/>
          <a:stretch>
            <a:fillRect/>
          </a:stretch>
        </p:blipFill>
        <p:spPr>
          <a:xfrm>
            <a:off x="7488534" y="3750434"/>
            <a:ext cx="4703466" cy="3124200"/>
          </a:xfrm>
          <a:prstGeom prst="rect">
            <a:avLst/>
          </a:prstGeom>
          <a:effectLst>
            <a:softEdge rad="343418"/>
          </a:effectLst>
        </p:spPr>
      </p:pic>
    </p:spTree>
    <p:extLst>
      <p:ext uri="{BB962C8B-B14F-4D97-AF65-F5344CB8AC3E}">
        <p14:creationId xmlns:p14="http://schemas.microsoft.com/office/powerpoint/2010/main" val="2377959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9A1529-A08E-E3FE-9076-D4C620AD8C0C}"/>
              </a:ext>
            </a:extLst>
          </p:cNvPr>
          <p:cNvSpPr txBox="1"/>
          <p:nvPr/>
        </p:nvSpPr>
        <p:spPr>
          <a:xfrm>
            <a:off x="221673" y="180109"/>
            <a:ext cx="10571018" cy="5909310"/>
          </a:xfrm>
          <a:prstGeom prst="rect">
            <a:avLst/>
          </a:prstGeom>
          <a:noFill/>
        </p:spPr>
        <p:txBody>
          <a:bodyPr wrap="square" rtlCol="0">
            <a:spAutoFit/>
          </a:bodyPr>
          <a:lstStyle/>
          <a:p>
            <a:r>
              <a:rPr lang="en-CA" b="1" dirty="0">
                <a:latin typeface="Arial" panose="020B0604020202020204" pitchFamily="34" charset="0"/>
                <a:cs typeface="Arial" panose="020B0604020202020204" pitchFamily="34" charset="0"/>
              </a:rPr>
              <a:t>What is a copula?</a:t>
            </a:r>
          </a:p>
          <a:p>
            <a:endParaRPr lang="en-CA" b="1" dirty="0">
              <a:latin typeface="Arial" panose="020B0604020202020204" pitchFamily="34" charset="0"/>
              <a:cs typeface="Arial" panose="020B0604020202020204" pitchFamily="34" charset="0"/>
            </a:endParaRPr>
          </a:p>
          <a:p>
            <a:r>
              <a:rPr lang="en-CA" dirty="0">
                <a:latin typeface="Arial" panose="020B0604020202020204" pitchFamily="34" charset="0"/>
                <a:cs typeface="Arial" panose="020B0604020202020204" pitchFamily="34" charset="0"/>
              </a:rPr>
              <a:t>It is a mathematical function that lets you </a:t>
            </a:r>
            <a:r>
              <a:rPr lang="en-CA" b="1" dirty="0">
                <a:latin typeface="Arial" panose="020B0604020202020204" pitchFamily="34" charset="0"/>
                <a:cs typeface="Arial" panose="020B0604020202020204" pitchFamily="34" charset="0"/>
              </a:rPr>
              <a:t>Model how two (or more) random variables are connected</a:t>
            </a:r>
            <a:r>
              <a:rPr lang="en-CA" dirty="0">
                <a:latin typeface="Arial" panose="020B0604020202020204" pitchFamily="34" charset="0"/>
                <a:cs typeface="Arial" panose="020B0604020202020204" pitchFamily="34" charset="0"/>
              </a:rPr>
              <a:t>, even if each has a different individual distribution.</a:t>
            </a:r>
          </a:p>
          <a:p>
            <a:r>
              <a:rPr lang="en-CA" dirty="0">
                <a:latin typeface="Arial" panose="020B0604020202020204" pitchFamily="34" charset="0"/>
                <a:cs typeface="Arial" panose="020B0604020202020204" pitchFamily="34" charset="0"/>
              </a:rPr>
              <a:t>Each </a:t>
            </a:r>
            <a:r>
              <a:rPr lang="en-CA" b="1" dirty="0">
                <a:latin typeface="Arial" panose="020B0604020202020204" pitchFamily="34" charset="0"/>
                <a:cs typeface="Arial" panose="020B0604020202020204" pitchFamily="34" charset="0"/>
              </a:rPr>
              <a:t>month’s runoff</a:t>
            </a:r>
            <a:r>
              <a:rPr lang="en-CA" dirty="0">
                <a:latin typeface="Arial" panose="020B0604020202020204" pitchFamily="34" charset="0"/>
                <a:cs typeface="Arial" panose="020B0604020202020204" pitchFamily="34" charset="0"/>
              </a:rPr>
              <a:t> has its </a:t>
            </a:r>
            <a:r>
              <a:rPr lang="en-CA" b="1" dirty="0">
                <a:latin typeface="Arial" panose="020B0604020202020204" pitchFamily="34" charset="0"/>
                <a:cs typeface="Arial" panose="020B0604020202020204" pitchFamily="34" charset="0"/>
              </a:rPr>
              <a:t>own distribution</a:t>
            </a:r>
            <a:r>
              <a:rPr lang="en-CA" dirty="0">
                <a:latin typeface="Arial" panose="020B0604020202020204" pitchFamily="34" charset="0"/>
                <a:cs typeface="Arial" panose="020B0604020202020204" pitchFamily="34" charset="0"/>
              </a:rPr>
              <a:t> (log-normal for 8 months). But the amount of runoff in one month depends on the previous month’s runoff.</a:t>
            </a:r>
          </a:p>
          <a:p>
            <a:r>
              <a:rPr lang="en-CA" dirty="0">
                <a:latin typeface="Arial" panose="020B0604020202020204" pitchFamily="34" charset="0"/>
                <a:cs typeface="Arial" panose="020B0604020202020204" pitchFamily="34" charset="0"/>
              </a:rPr>
              <a:t>So, this copula function lets us </a:t>
            </a:r>
            <a:r>
              <a:rPr lang="en-CA" b="1" dirty="0">
                <a:latin typeface="Arial" panose="020B0604020202020204" pitchFamily="34" charset="0"/>
                <a:cs typeface="Arial" panose="020B0604020202020204" pitchFamily="34" charset="0"/>
              </a:rPr>
              <a:t>model the dependency between the months</a:t>
            </a:r>
            <a:r>
              <a:rPr lang="en-CA" dirty="0">
                <a:latin typeface="Arial" panose="020B0604020202020204" pitchFamily="34" charset="0"/>
                <a:cs typeface="Arial" panose="020B0604020202020204" pitchFamily="34" charset="0"/>
              </a:rPr>
              <a:t>, without changing their individual distributions.</a:t>
            </a:r>
          </a:p>
          <a:p>
            <a:r>
              <a:rPr lang="en-CA" dirty="0">
                <a:latin typeface="Arial" panose="020B0604020202020204" pitchFamily="34" charset="0"/>
                <a:cs typeface="Arial" panose="020B0604020202020204" pitchFamily="34" charset="0"/>
              </a:rPr>
              <a:t>* It converts each month runoff to its cumulative distribution function -&gt;</a:t>
            </a:r>
            <a:r>
              <a:rPr lang="en-CA" dirty="0"/>
              <a:t>then use a </a:t>
            </a:r>
            <a:r>
              <a:rPr lang="en-CA" b="1" dirty="0"/>
              <a:t>copula function</a:t>
            </a:r>
            <a:r>
              <a:rPr lang="en-CA" dirty="0"/>
              <a:t> (like Gumbel, Clayton, Frank) to link these two CDF values together.</a:t>
            </a:r>
            <a:endParaRPr lang="en-CA" dirty="0">
              <a:latin typeface="Arial" panose="020B0604020202020204" pitchFamily="34" charset="0"/>
              <a:cs typeface="Arial" panose="020B0604020202020204" pitchFamily="34" charset="0"/>
            </a:endParaRPr>
          </a:p>
          <a:p>
            <a:endParaRPr lang="en-CA" dirty="0">
              <a:latin typeface="Arial" panose="020B0604020202020204" pitchFamily="34" charset="0"/>
              <a:cs typeface="Arial" panose="020B0604020202020204" pitchFamily="34" charset="0"/>
            </a:endParaRPr>
          </a:p>
          <a:p>
            <a:r>
              <a:rPr lang="en-CA" dirty="0"/>
              <a:t> </a:t>
            </a:r>
            <a:r>
              <a:rPr lang="en-CA" b="1" dirty="0">
                <a:latin typeface="Arial" panose="020B0604020202020204" pitchFamily="34" charset="0"/>
                <a:cs typeface="Arial" panose="020B0604020202020204" pitchFamily="34" charset="0"/>
              </a:rPr>
              <a:t>What is a Gibbs sampling?</a:t>
            </a:r>
          </a:p>
          <a:p>
            <a:endParaRPr lang="en-CA" b="1" dirty="0">
              <a:latin typeface="Arial" panose="020B0604020202020204" pitchFamily="34" charset="0"/>
              <a:cs typeface="Arial" panose="020B0604020202020204" pitchFamily="34" charset="0"/>
            </a:endParaRPr>
          </a:p>
          <a:p>
            <a:pPr>
              <a:buFont typeface="+mj-lt"/>
              <a:buAutoNum type="arabicPeriod"/>
            </a:pPr>
            <a:r>
              <a:rPr lang="en-CA" dirty="0"/>
              <a:t>Start with some random inflow value for one month.</a:t>
            </a:r>
          </a:p>
          <a:p>
            <a:pPr>
              <a:buFont typeface="+mj-lt"/>
              <a:buAutoNum type="arabicPeriod"/>
            </a:pPr>
            <a:r>
              <a:rPr lang="en-CA" dirty="0"/>
              <a:t>Use the conditional distribution from the copula to generate the next month.</a:t>
            </a:r>
          </a:p>
          <a:p>
            <a:pPr>
              <a:buFont typeface="+mj-lt"/>
              <a:buAutoNum type="arabicPeriod"/>
            </a:pPr>
            <a:r>
              <a:rPr lang="en-CA" dirty="0"/>
              <a:t>Repeat this until you have 12 months (one year).</a:t>
            </a:r>
          </a:p>
          <a:p>
            <a:pPr>
              <a:buFont typeface="+mj-lt"/>
              <a:buAutoNum type="arabicPeriod"/>
            </a:pPr>
            <a:r>
              <a:rPr lang="en-CA" dirty="0"/>
              <a:t>Then start over and do this for 5000 years.</a:t>
            </a:r>
          </a:p>
          <a:p>
            <a:endParaRPr lang="en-CA" b="1" dirty="0">
              <a:latin typeface="Arial" panose="020B0604020202020204" pitchFamily="34" charset="0"/>
              <a:cs typeface="Arial" panose="020B0604020202020204" pitchFamily="34" charset="0"/>
            </a:endParaRPr>
          </a:p>
          <a:p>
            <a:endParaRPr lang="en-CA" b="1" dirty="0">
              <a:latin typeface="Arial" panose="020B0604020202020204" pitchFamily="34" charset="0"/>
              <a:cs typeface="Arial" panose="020B0604020202020204" pitchFamily="34" charset="0"/>
            </a:endParaRPr>
          </a:p>
          <a:p>
            <a:endParaRPr lang="en-CA" b="1"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607641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numbers and lines&#10;&#10;Description automatically generated with medium confidence">
            <a:extLst>
              <a:ext uri="{FF2B5EF4-FFF2-40B4-BE49-F238E27FC236}">
                <a16:creationId xmlns:a16="http://schemas.microsoft.com/office/drawing/2014/main" id="{8628BE45-BCF3-5911-EB54-AA5815D1E68E}"/>
              </a:ext>
            </a:extLst>
          </p:cNvPr>
          <p:cNvPicPr>
            <a:picLocks noChangeAspect="1"/>
          </p:cNvPicPr>
          <p:nvPr/>
        </p:nvPicPr>
        <p:blipFill>
          <a:blip r:embed="rId2"/>
          <a:stretch>
            <a:fillRect/>
          </a:stretch>
        </p:blipFill>
        <p:spPr>
          <a:xfrm>
            <a:off x="-1" y="1"/>
            <a:ext cx="3729187" cy="2571526"/>
          </a:xfrm>
          <a:prstGeom prst="rect">
            <a:avLst/>
          </a:prstGeom>
        </p:spPr>
      </p:pic>
      <p:pic>
        <p:nvPicPr>
          <p:cNvPr id="5" name="Picture 4" descr="A graph with a red line and blue dotted line&#10;&#10;Description automatically generated">
            <a:extLst>
              <a:ext uri="{FF2B5EF4-FFF2-40B4-BE49-F238E27FC236}">
                <a16:creationId xmlns:a16="http://schemas.microsoft.com/office/drawing/2014/main" id="{C18409D3-34FC-1B78-01C5-892E2D0B1A2D}"/>
              </a:ext>
            </a:extLst>
          </p:cNvPr>
          <p:cNvPicPr>
            <a:picLocks noChangeAspect="1"/>
          </p:cNvPicPr>
          <p:nvPr/>
        </p:nvPicPr>
        <p:blipFill>
          <a:blip r:embed="rId3"/>
          <a:stretch>
            <a:fillRect/>
          </a:stretch>
        </p:blipFill>
        <p:spPr>
          <a:xfrm>
            <a:off x="3897458" y="124691"/>
            <a:ext cx="5817176" cy="2930326"/>
          </a:xfrm>
          <a:prstGeom prst="rect">
            <a:avLst/>
          </a:prstGeom>
        </p:spPr>
      </p:pic>
      <p:sp>
        <p:nvSpPr>
          <p:cNvPr id="6" name="TextBox 5">
            <a:extLst>
              <a:ext uri="{FF2B5EF4-FFF2-40B4-BE49-F238E27FC236}">
                <a16:creationId xmlns:a16="http://schemas.microsoft.com/office/drawing/2014/main" id="{4C9AAD6A-392D-E3DA-A8F2-1CB382A45DE0}"/>
              </a:ext>
            </a:extLst>
          </p:cNvPr>
          <p:cNvSpPr txBox="1"/>
          <p:nvPr/>
        </p:nvSpPr>
        <p:spPr>
          <a:xfrm>
            <a:off x="3897458" y="3429000"/>
            <a:ext cx="6213764" cy="1200329"/>
          </a:xfrm>
          <a:prstGeom prst="rect">
            <a:avLst/>
          </a:prstGeom>
          <a:noFill/>
        </p:spPr>
        <p:txBody>
          <a:bodyPr wrap="square" rtlCol="0">
            <a:spAutoFit/>
          </a:bodyPr>
          <a:lstStyle/>
          <a:p>
            <a:r>
              <a:rPr lang="en-US" dirty="0"/>
              <a:t>In a normal year, DP is not too far off from SDP. The paper implies though not stated directly, that in NON normal conditions, like an exceptional drought or heavy rain year, SDP will outperform DP.</a:t>
            </a:r>
          </a:p>
        </p:txBody>
      </p:sp>
    </p:spTree>
    <p:extLst>
      <p:ext uri="{BB962C8B-B14F-4D97-AF65-F5344CB8AC3E}">
        <p14:creationId xmlns:p14="http://schemas.microsoft.com/office/powerpoint/2010/main" val="289007519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937</TotalTime>
  <Words>666</Words>
  <Application>Microsoft Macintosh PowerPoint</Application>
  <PresentationFormat>Widescreen</PresentationFormat>
  <Paragraphs>66</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Apple Chancery</vt:lpstr>
      <vt:lpstr>Aptos</vt:lpstr>
      <vt:lpstr>Arial</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ismail el azhari</dc:creator>
  <cp:lastModifiedBy>ismail el azhari</cp:lastModifiedBy>
  <cp:revision>10</cp:revision>
  <dcterms:created xsi:type="dcterms:W3CDTF">2025-04-05T19:57:25Z</dcterms:created>
  <dcterms:modified xsi:type="dcterms:W3CDTF">2025-04-09T03:08:49Z</dcterms:modified>
</cp:coreProperties>
</file>